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2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1463040"/>
            <a:ext cx="502920" cy="502920"/>
          </a:xfrm>
          <a:prstGeom prst="rect">
            <a:avLst/>
          </a:prstGeom>
          <a:solidFill>
            <a:srgbClr val="B14E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280160" y="1417320"/>
            <a:ext cx="9144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2D2A26"/>
                </a:solidFill>
                <a:latin typeface="Georgia"/>
              </a:rPr>
              <a:t>Flowgrid 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2286000"/>
            <a:ext cx="105156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800" b="1">
                <a:solidFill>
                  <a:srgbClr val="8A3A22"/>
                </a:solidFill>
                <a:latin typeface="Georgia"/>
              </a:rPr>
              <a:t>Partner programme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3657600"/>
            <a:ext cx="10515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0">
                <a:solidFill>
                  <a:srgbClr val="5B5752"/>
                </a:solidFill>
                <a:latin typeface="Calibri"/>
              </a:rPr>
              <a:t>Sell a branded AI workspace without building one.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6537960"/>
            <a:ext cx="11094415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B5752"/>
                </a:solidFill>
                <a:latin typeface="Calibri"/>
              </a:rPr>
              <a:t>flowgridos.co.uk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B14E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01168"/>
            <a:ext cx="1109441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>
                <a:solidFill>
                  <a:srgbClr val="FFFFFF"/>
                </a:solidFill>
                <a:latin typeface="Georgia"/>
              </a:rPr>
              <a:t>The opportunity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25880"/>
            <a:ext cx="11094415" cy="5120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20000"/>
              </a:lnSpc>
              <a:spcAft>
                <a:spcPts val="1000"/>
              </a:spcAft>
              <a:defRPr sz="2200">
                <a:solidFill>
                  <a:srgbClr val="2D2A26"/>
                </a:solidFill>
                <a:latin typeface="Calibri"/>
              </a:defRPr>
            </a:pPr>
            <a:r>
              <a:t>• Charities, trusts and SMEs want cited answers and structured work, not a patchwork of AI tools.</a:t>
            </a:r>
          </a:p>
          <a:p>
            <a:pPr>
              <a:lnSpc>
                <a:spcPct val="120000"/>
              </a:lnSpc>
              <a:spcAft>
                <a:spcPts val="1000"/>
              </a:spcAft>
              <a:defRPr sz="2200">
                <a:solidFill>
                  <a:srgbClr val="2D2A26"/>
                </a:solidFill>
                <a:latin typeface="Calibri"/>
              </a:defRPr>
            </a:pPr>
            <a:r>
              <a:t>• Agencies, MSPs and consultancies can own the client relationship.</a:t>
            </a:r>
          </a:p>
          <a:p>
            <a:pPr>
              <a:lnSpc>
                <a:spcPct val="120000"/>
              </a:lnSpc>
              <a:spcAft>
                <a:spcPts val="1000"/>
              </a:spcAft>
              <a:defRPr sz="2200">
                <a:solidFill>
                  <a:srgbClr val="2D2A26"/>
                </a:solidFill>
                <a:latin typeface="Calibri"/>
              </a:defRPr>
            </a:pPr>
            <a:r>
              <a:t>• Flowgrid OS handles infrastructure, model routing, security and updates.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37960"/>
            <a:ext cx="11094415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B5752"/>
                </a:solidFill>
                <a:latin typeface="Calibri"/>
              </a:rPr>
              <a:t>flowgridos.co.uk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B14E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01168"/>
            <a:ext cx="1109441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>
                <a:solidFill>
                  <a:srgbClr val="FFFFFF"/>
                </a:solidFill>
                <a:latin typeface="Georgia"/>
              </a:rPr>
              <a:t>The platform you resell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25880"/>
            <a:ext cx="11094415" cy="5120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20000"/>
              </a:lnSpc>
              <a:spcAft>
                <a:spcPts val="1000"/>
              </a:spcAft>
              <a:defRPr sz="2200">
                <a:solidFill>
                  <a:srgbClr val="2D2A26"/>
                </a:solidFill>
                <a:latin typeface="Calibri"/>
              </a:defRPr>
            </a:pPr>
            <a:r>
              <a:t>• Brand layer: client logo, colours and branded outputs.</a:t>
            </a:r>
          </a:p>
          <a:p>
            <a:pPr>
              <a:lnSpc>
                <a:spcPct val="120000"/>
              </a:lnSpc>
              <a:spcAft>
                <a:spcPts val="1000"/>
              </a:spcAft>
              <a:defRPr sz="2200">
                <a:solidFill>
                  <a:srgbClr val="2D2A26"/>
                </a:solidFill>
                <a:latin typeface="Calibri"/>
              </a:defRPr>
            </a:pPr>
            <a:r>
              <a:t>• Model router — cost-routed open weights with automatic fallbacks.</a:t>
            </a:r>
          </a:p>
          <a:p>
            <a:pPr>
              <a:lnSpc>
                <a:spcPct val="120000"/>
              </a:lnSpc>
              <a:spcAft>
                <a:spcPts val="1000"/>
              </a:spcAft>
              <a:defRPr sz="2200">
                <a:solidFill>
                  <a:srgbClr val="2D2A26"/>
                </a:solidFill>
                <a:latin typeface="Calibri"/>
              </a:defRPr>
            </a:pPr>
            <a:r>
              <a:t>• Vault &amp; confirmed facts: cited answers, with each client isolated at the database level.</a:t>
            </a:r>
          </a:p>
          <a:p>
            <a:pPr>
              <a:lnSpc>
                <a:spcPct val="120000"/>
              </a:lnSpc>
              <a:spcAft>
                <a:spcPts val="1000"/>
              </a:spcAft>
              <a:defRPr sz="2200">
                <a:solidFill>
                  <a:srgbClr val="2D2A26"/>
                </a:solidFill>
                <a:latin typeface="Calibri"/>
              </a:defRPr>
            </a:pPr>
            <a:r>
              <a:t>• Modules: projects, exports and sector modules (Groundwork and Grantwork, available in pilot).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37960"/>
            <a:ext cx="11094415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B5752"/>
                </a:solidFill>
                <a:latin typeface="Calibri"/>
              </a:rPr>
              <a:t>flowgridos.co.uk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B14E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01168"/>
            <a:ext cx="1109441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>
                <a:solidFill>
                  <a:srgbClr val="FFFFFF"/>
                </a:solidFill>
                <a:latin typeface="Georgia"/>
              </a:rPr>
              <a:t>Why partner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25880"/>
            <a:ext cx="11094415" cy="5120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20000"/>
              </a:lnSpc>
              <a:spcAft>
                <a:spcPts val="1000"/>
              </a:spcAft>
              <a:defRPr sz="2200">
                <a:solidFill>
                  <a:srgbClr val="2D2A26"/>
                </a:solidFill>
                <a:latin typeface="Calibri"/>
              </a:defRPr>
            </a:pPr>
            <a:r>
              <a:t>• Recurring revenue: per-seat subscriptions with margin you keep. Economics are shared on a partner call.</a:t>
            </a:r>
          </a:p>
          <a:p>
            <a:pPr>
              <a:lnSpc>
                <a:spcPct val="120000"/>
              </a:lnSpc>
              <a:spcAft>
                <a:spcPts val="1000"/>
              </a:spcAft>
              <a:defRPr sz="2200">
                <a:solidFill>
                  <a:srgbClr val="2D2A26"/>
                </a:solidFill>
                <a:latin typeface="Calibri"/>
              </a:defRPr>
            </a:pPr>
            <a:r>
              <a:t>• Zero licensing overhang: MIT/Apache stack end-to-end.</a:t>
            </a:r>
          </a:p>
          <a:p>
            <a:pPr>
              <a:lnSpc>
                <a:spcPct val="120000"/>
              </a:lnSpc>
              <a:spcAft>
                <a:spcPts val="1000"/>
              </a:spcAft>
              <a:defRPr sz="2200">
                <a:solidFill>
                  <a:srgbClr val="2D2A26"/>
                </a:solidFill>
                <a:latin typeface="Calibri"/>
              </a:defRPr>
            </a:pPr>
            <a:r>
              <a:t>• Sticky clients: vault, projects and usage data increase switching costs.</a:t>
            </a:r>
          </a:p>
          <a:p>
            <a:pPr>
              <a:lnSpc>
                <a:spcPct val="120000"/>
              </a:lnSpc>
              <a:spcAft>
                <a:spcPts val="1000"/>
              </a:spcAft>
              <a:defRPr sz="2200">
                <a:solidFill>
                  <a:srgbClr val="2D2A26"/>
                </a:solidFill>
                <a:latin typeface="Calibri"/>
              </a:defRPr>
            </a:pPr>
            <a:r>
              <a:t>• Fast to deploy: new branded workspaces provisioned in minutes.</a:t>
            </a:r>
          </a:p>
          <a:p>
            <a:pPr>
              <a:lnSpc>
                <a:spcPct val="120000"/>
              </a:lnSpc>
              <a:spcAft>
                <a:spcPts val="1000"/>
              </a:spcAft>
              <a:defRPr sz="2200">
                <a:solidFill>
                  <a:srgbClr val="2D2A26"/>
                </a:solidFill>
                <a:latin typeface="Calibri"/>
              </a:defRPr>
            </a:pPr>
            <a:r>
              <a:t>• Pilot first: we are onboarding in small pilot groups, so places are limited.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37960"/>
            <a:ext cx="11094415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B5752"/>
                </a:solidFill>
                <a:latin typeface="Calibri"/>
              </a:rPr>
              <a:t>flowgridos.co.uk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B14E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01168"/>
            <a:ext cx="1109441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>
                <a:solidFill>
                  <a:srgbClr val="FFFFFF"/>
                </a:solidFill>
                <a:latin typeface="Georgia"/>
              </a:rPr>
              <a:t>How it works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737360"/>
            <a:ext cx="2567863" cy="3108960"/>
          </a:xfrm>
          <a:prstGeom prst="roundRect">
            <a:avLst/>
          </a:prstGeom>
          <a:solidFill>
            <a:srgbClr val="F6F2ED"/>
          </a:solidFill>
          <a:ln w="25400">
            <a:solidFill>
              <a:srgbClr val="B14E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1558251" y="1965960"/>
            <a:ext cx="548640" cy="548640"/>
          </a:xfrm>
          <a:prstGeom prst="ellipse">
            <a:avLst/>
          </a:prstGeom>
          <a:solidFill>
            <a:srgbClr val="B14E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558251" y="2029968"/>
            <a:ext cx="548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2743200"/>
            <a:ext cx="2293543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700" b="1">
                <a:solidFill>
                  <a:srgbClr val="8A3A22"/>
                </a:solidFill>
                <a:latin typeface="Georgia"/>
              </a:rPr>
              <a:t>Sign a client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3291840"/>
            <a:ext cx="2293543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5B5752"/>
                </a:solidFill>
                <a:latin typeface="Calibri"/>
              </a:rPr>
              <a:t>Agree scope &amp; collect brand assets.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390823" y="1737360"/>
            <a:ext cx="2567863" cy="3108960"/>
          </a:xfrm>
          <a:prstGeom prst="roundRect">
            <a:avLst/>
          </a:prstGeom>
          <a:solidFill>
            <a:srgbClr val="F6F2ED"/>
          </a:solidFill>
          <a:ln w="25400">
            <a:solidFill>
              <a:srgbClr val="B14E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4400435" y="1965960"/>
            <a:ext cx="548640" cy="548640"/>
          </a:xfrm>
          <a:prstGeom prst="ellipse">
            <a:avLst/>
          </a:prstGeom>
          <a:solidFill>
            <a:srgbClr val="B14E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400435" y="2029968"/>
            <a:ext cx="548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527983" y="2743200"/>
            <a:ext cx="2293543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700" b="1">
                <a:solidFill>
                  <a:srgbClr val="8A3A22"/>
                </a:solidFill>
                <a:latin typeface="Georgia"/>
              </a:rPr>
              <a:t>Provision workspace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27983" y="3291840"/>
            <a:ext cx="2293543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5B5752"/>
                </a:solidFill>
                <a:latin typeface="Calibri"/>
              </a:rPr>
              <a:t>Operator console creates tenant, keys &amp; invites.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33007" y="1737360"/>
            <a:ext cx="2567863" cy="3108960"/>
          </a:xfrm>
          <a:prstGeom prst="roundRect">
            <a:avLst/>
          </a:prstGeom>
          <a:solidFill>
            <a:srgbClr val="F6F2ED"/>
          </a:solidFill>
          <a:ln w="25400">
            <a:solidFill>
              <a:srgbClr val="B14E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7242619" y="1965960"/>
            <a:ext cx="548640" cy="548640"/>
          </a:xfrm>
          <a:prstGeom prst="ellipse">
            <a:avLst/>
          </a:prstGeom>
          <a:solidFill>
            <a:srgbClr val="B14E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242619" y="2029968"/>
            <a:ext cx="548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70167" y="2743200"/>
            <a:ext cx="2293543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700" b="1">
                <a:solidFill>
                  <a:srgbClr val="8A3A22"/>
                </a:solidFill>
                <a:latin typeface="Georgia"/>
              </a:rPr>
              <a:t>Curate &amp; train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370167" y="3291840"/>
            <a:ext cx="2293543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5B5752"/>
                </a:solidFill>
                <a:latin typeface="Calibri"/>
              </a:rPr>
              <a:t>Upload docs, run onboarding, set spending limits.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075191" y="1737360"/>
            <a:ext cx="2567863" cy="3108960"/>
          </a:xfrm>
          <a:prstGeom prst="roundRect">
            <a:avLst/>
          </a:prstGeom>
          <a:solidFill>
            <a:srgbClr val="F6F2ED"/>
          </a:solidFill>
          <a:ln w="25400">
            <a:solidFill>
              <a:srgbClr val="B14E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10084803" y="1965960"/>
            <a:ext cx="548640" cy="548640"/>
          </a:xfrm>
          <a:prstGeom prst="ellipse">
            <a:avLst/>
          </a:prstGeom>
          <a:solidFill>
            <a:srgbClr val="B14E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084803" y="2029968"/>
            <a:ext cx="548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212351" y="2743200"/>
            <a:ext cx="2293543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700" b="1">
                <a:solidFill>
                  <a:srgbClr val="8A3A22"/>
                </a:solidFill>
                <a:latin typeface="Georgia"/>
              </a:rPr>
              <a:t>Bill monthly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212351" y="3291840"/>
            <a:ext cx="2293543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5B5752"/>
                </a:solidFill>
                <a:latin typeface="Calibri"/>
              </a:rPr>
              <a:t>You invoice the client; we invoice you.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8640" y="6537960"/>
            <a:ext cx="11094415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B5752"/>
                </a:solidFill>
                <a:latin typeface="Calibri"/>
              </a:rPr>
              <a:t>flowgridos.co.uk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B14E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011680"/>
            <a:ext cx="11094415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>
                <a:solidFill>
                  <a:srgbClr val="FFFFFF"/>
                </a:solidFill>
                <a:latin typeface="Georgia"/>
              </a:rPr>
              <a:t>Become a Flowgrid OS partner.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3200400"/>
            <a:ext cx="1109441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>
                <a:solidFill>
                  <a:srgbClr val="FFFFFF"/>
                </a:solidFill>
                <a:latin typeface="Calibri"/>
              </a:rPr>
              <a:t>Book a partner call and we’ll share the operator console, margin model and onboarding runbook.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4114800"/>
            <a:ext cx="1109441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>
                <a:solidFill>
                  <a:srgbClr val="FFFFFF"/>
                </a:solidFill>
                <a:latin typeface="Calibri"/>
              </a:rPr>
              <a:t>clive@platform91.com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537960"/>
            <a:ext cx="11094415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B5752"/>
                </a:solidFill>
                <a:latin typeface="Calibri"/>
              </a:rPr>
              <a:t>flowgridos.co.uk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