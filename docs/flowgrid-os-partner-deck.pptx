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17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D2A26"/>
                </a:solidFill>
                <a:latin typeface="Georgia"/>
              </a:rPr>
              <a:t>Flowgrid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A3A22"/>
                </a:solidFill>
                <a:latin typeface="Georgia"/>
              </a:rPr>
              <a:t>Partner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5B5752"/>
                </a:solidFill>
                <a:latin typeface="Calibri"/>
              </a:rPr>
              <a:t>Sell a branded AI workspace without building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Charities, trusts and SMEs want cited answers and structured work, not a patchwork of AI tools.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Agencies, MSPs and consultancies can own the client relationship.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Flowgrid OS handles infrastructure, model routing, security and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The platform you resell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Brand layer: client logo, colours and branded outputs.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Model router — cost-routed open weights with automatic fallbacks.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Documents &amp; confirmed facts: cited answers, with each client isolated at the database level.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Projects: every project has chat, documents and an optional plan of owned tasks, plus branded exports.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Sector modules, switched on per client: Groundwork · Development projects and Grantwork · Grant funding (available in pilot), and Contacts as a tab on any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Why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Recurring revenue: per-seat subscriptions with margin you keep. Economics are shared on a partner call.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Zero licensing overhang: MIT/Apache stack end-to-end.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Sticky clients: documents, projects and usage data increase switching costs.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Fast to deploy: new branded workspaces provisioned in minutes.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2200">
                <a:solidFill>
                  <a:srgbClr val="2D2A26"/>
                </a:solidFill>
                <a:latin typeface="Calibri"/>
              </a:defRPr>
            </a:pPr>
            <a:r>
              <a:t>• Pilot first: we are onboarding in small pilot groups, so places are limited.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108960"/>
          </a:xfrm>
          <a:prstGeom prst="roundRect">
            <a:avLst/>
          </a:prstGeom>
          <a:solidFill>
            <a:srgbClr val="F6F2ED"/>
          </a:solidFill>
          <a:ln w="25400">
            <a:solidFill>
              <a:srgbClr val="B14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8251" y="1965960"/>
            <a:ext cx="548640" cy="548640"/>
          </a:xfrm>
          <a:prstGeom prst="ellipse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8251" y="2029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293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A3A22"/>
                </a:solidFill>
                <a:latin typeface="Georgia"/>
              </a:rPr>
              <a:t>Sign a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2293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5752"/>
                </a:solidFill>
                <a:latin typeface="Calibri"/>
              </a:rPr>
              <a:t>Agree scope &amp; collect brand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0823" y="1737360"/>
            <a:ext cx="2567863" cy="3108960"/>
          </a:xfrm>
          <a:prstGeom prst="roundRect">
            <a:avLst/>
          </a:prstGeom>
          <a:solidFill>
            <a:srgbClr val="F6F2ED"/>
          </a:solidFill>
          <a:ln w="25400">
            <a:solidFill>
              <a:srgbClr val="B14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00435" y="1965960"/>
            <a:ext cx="548640" cy="548640"/>
          </a:xfrm>
          <a:prstGeom prst="ellipse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0435" y="2029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743200"/>
            <a:ext cx="2293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A3A22"/>
                </a:solidFill>
                <a:latin typeface="Georgia"/>
              </a:rPr>
              <a:t>Provision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291840"/>
            <a:ext cx="2293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5752"/>
                </a:solidFill>
                <a:latin typeface="Calibri"/>
              </a:rPr>
              <a:t>Operator console creates tenant, keys &amp; invites.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2567863" cy="3108960"/>
          </a:xfrm>
          <a:prstGeom prst="roundRect">
            <a:avLst/>
          </a:prstGeom>
          <a:solidFill>
            <a:srgbClr val="F6F2ED"/>
          </a:solidFill>
          <a:ln w="25400">
            <a:solidFill>
              <a:srgbClr val="B14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42619" y="1965960"/>
            <a:ext cx="548640" cy="548640"/>
          </a:xfrm>
          <a:prstGeom prst="ellipse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619" y="2029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743200"/>
            <a:ext cx="2293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A3A22"/>
                </a:solidFill>
                <a:latin typeface="Georgia"/>
              </a:rPr>
              <a:t>Curate &amp; 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291840"/>
            <a:ext cx="2293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5752"/>
                </a:solidFill>
                <a:latin typeface="Calibri"/>
              </a:rPr>
              <a:t>Upload docs, run onboarding, set spending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37360"/>
            <a:ext cx="2567863" cy="3108960"/>
          </a:xfrm>
          <a:prstGeom prst="roundRect">
            <a:avLst/>
          </a:prstGeom>
          <a:solidFill>
            <a:srgbClr val="F6F2ED"/>
          </a:solidFill>
          <a:ln w="25400">
            <a:solidFill>
              <a:srgbClr val="B14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84803" y="1965960"/>
            <a:ext cx="548640" cy="548640"/>
          </a:xfrm>
          <a:prstGeom prst="ellipse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4803" y="20299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2743200"/>
            <a:ext cx="2293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8A3A22"/>
                </a:solidFill>
                <a:latin typeface="Georgia"/>
              </a:rPr>
              <a:t>Bill monthly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351" y="3291840"/>
            <a:ext cx="22935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5752"/>
                </a:solidFill>
                <a:latin typeface="Calibri"/>
              </a:rPr>
              <a:t>You invoice the client; we invoice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14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Become a Flowgrid OS partner.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Book a partner call and we’ll share the operator console, margin model and onboarding runbook.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hello@flowgridos.co.uk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5752"/>
                </a:solidFill>
                <a:latin typeface="Calibri"/>
              </a:rPr>
              <a:t>flowgridos.co.uk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