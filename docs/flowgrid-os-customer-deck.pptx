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1463040"/>
            <a:ext cx="502920" cy="502920"/>
          </a:xfrm>
          <a:prstGeom prst="rect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417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D2A26"/>
                </a:solidFill>
                <a:latin typeface="Georgia"/>
              </a:rPr>
              <a:t>Flowgrid 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8A3A22"/>
                </a:solidFill>
                <a:latin typeface="Georgia"/>
              </a:rPr>
              <a:t>AI workspace for UK small businesses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576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5B5752"/>
                </a:solidFill>
                <a:latin typeface="Calibri"/>
              </a:rPr>
              <a:t>One workspace. Your brand. Your data.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37960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5752"/>
                </a:solidFill>
                <a:latin typeface="Calibri"/>
              </a:rPr>
              <a:t>flowgridos.co.uk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94415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SMBs are buying AI in fragments — chat, documents, slides, research, each with its own login and bill.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Closed models are expensive and often train on your data.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Company knowledge sits in folders and spreadsheets, never where the work happens.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37960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5752"/>
                </a:solidFill>
                <a:latin typeface="Calibri"/>
              </a:rPr>
              <a:t>flowgridos.co.uk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94415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A single branded workspace for every client: their logo, their accent, their documents.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Answers cite the source page, so staff can trust what the AI says.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Every task is routed to the cheapest capable open-weight model — no closed-model lock-in.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Usage caps and per-tenant budgets prevent surprise invoices.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37960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5752"/>
                </a:solidFill>
                <a:latin typeface="Calibri"/>
              </a:rPr>
              <a:t>flowgridos.co.uk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What you get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364327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defRPr sz="1900">
                <a:solidFill>
                  <a:srgbClr val="2D2A26"/>
                </a:solidFill>
                <a:latin typeface="Calibri"/>
              </a:defRPr>
            </a:pPr>
            <a:r>
              <a:t>• Branded AI chat with page-level citations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1900">
                <a:solidFill>
                  <a:srgbClr val="2D2A26"/>
                </a:solidFill>
                <a:latin typeface="Calibri"/>
              </a:defRPr>
            </a:pPr>
            <a:r>
              <a:t>• Cited knowledge vault (PDF, Word, Excel, Markdown)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1900">
                <a:solidFill>
                  <a:srgbClr val="2D2A26"/>
                </a:solidFill>
                <a:latin typeface="Calibri"/>
              </a:defRPr>
            </a:pPr>
            <a:r>
              <a:t>• Research mode with cited web sources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1900">
                <a:solidFill>
                  <a:srgbClr val="2D2A26"/>
                </a:solidFill>
                <a:latin typeface="Calibri"/>
              </a:defRPr>
            </a:pPr>
            <a:r>
              <a:t>• Native PowerPoint slide export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78727" y="1371600"/>
            <a:ext cx="5364327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defRPr sz="1900">
                <a:solidFill>
                  <a:srgbClr val="2D2A26"/>
                </a:solidFill>
                <a:latin typeface="Calibri"/>
              </a:defRPr>
            </a:pPr>
            <a:r>
              <a:t>• CRM contact book with CSV import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1900">
                <a:solidFill>
                  <a:srgbClr val="2D2A26"/>
                </a:solidFill>
                <a:latin typeface="Calibri"/>
              </a:defRPr>
            </a:pPr>
            <a:r>
              <a:t>• Project spine for stage-gated work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1900">
                <a:solidFill>
                  <a:srgbClr val="2D2A26"/>
                </a:solidFill>
                <a:latin typeface="Calibri"/>
              </a:defRPr>
            </a:pPr>
            <a:r>
              <a:t>• Email &amp; calendar sync (roadmap)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1900">
                <a:solidFill>
                  <a:srgbClr val="2D2A26"/>
                </a:solidFill>
                <a:latin typeface="Calibri"/>
              </a:defRPr>
            </a:pPr>
            <a:r>
              <a:t>• Meeting intelligence (roadmap)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5752"/>
                </a:solidFill>
                <a:latin typeface="Calibri"/>
              </a:rPr>
              <a:t>flowgridos.co.uk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Privacy &amp;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94415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Tenant isolation enforced by Postgres row-level security.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Zero-data-retention US/EU hosts by default; nothing trains on your files.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Soft caps nudge, hard caps protect; full audit logs.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MIT/Apache stack only — no hidden licensing overhang.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37960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5752"/>
                </a:solidFill>
                <a:latin typeface="Calibri"/>
              </a:rPr>
              <a:t>flowgridos.co.uk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Simple, per-seat pricing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3515258" cy="4389120"/>
          </a:xfrm>
          <a:prstGeom prst="roundRect">
            <a:avLst/>
          </a:prstGeom>
          <a:solidFill>
            <a:srgbClr val="F6F2ED"/>
          </a:solidFill>
          <a:ln w="25400">
            <a:solidFill>
              <a:srgbClr val="B14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08760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B14E2E"/>
                </a:solidFill>
                <a:latin typeface="Georgia"/>
              </a:rPr>
              <a:t>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324093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B14E2E"/>
                </a:solidFill>
                <a:latin typeface="Calibri"/>
              </a:rPr>
              <a:t>£29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514600"/>
            <a:ext cx="324093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D2A26"/>
                </a:solidFill>
                <a:latin typeface="Calibri"/>
              </a:rPr>
              <a:t>/seat/mo · min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971800"/>
            <a:ext cx="3149498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defRPr sz="1400">
                <a:solidFill>
                  <a:srgbClr val="2D2A26"/>
                </a:solidFill>
                <a:latin typeface="Calibri"/>
              </a:defRPr>
            </a:pPr>
            <a:r>
              <a:t>• Workspace &amp; chat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1400">
                <a:solidFill>
                  <a:srgbClr val="2D2A26"/>
                </a:solidFill>
                <a:latin typeface="Calibri"/>
              </a:defRPr>
            </a:pPr>
            <a:r>
              <a:t>• Vault &amp; citations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1400">
                <a:solidFill>
                  <a:srgbClr val="2D2A26"/>
                </a:solidFill>
                <a:latin typeface="Calibri"/>
              </a:defRPr>
            </a:pPr>
            <a:r>
              <a:t>• Research &amp; slides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1400">
                <a:solidFill>
                  <a:srgbClr val="2D2A26"/>
                </a:solidFill>
                <a:latin typeface="Calibri"/>
              </a:defRPr>
            </a:pPr>
            <a:r>
              <a:t>• CRM contacts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1400">
                <a:solidFill>
                  <a:srgbClr val="2D2A26"/>
                </a:solidFill>
                <a:latin typeface="Calibri"/>
              </a:defRPr>
            </a:pPr>
            <a:r>
              <a:t>• Standard support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8218" y="1371600"/>
            <a:ext cx="3515258" cy="4389120"/>
          </a:xfrm>
          <a:prstGeom prst="roundRect">
            <a:avLst/>
          </a:prstGeom>
          <a:solidFill>
            <a:srgbClr val="B14E2E"/>
          </a:solidFill>
          <a:ln w="25400">
            <a:solidFill>
              <a:srgbClr val="B14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75378" y="1508760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Georgia"/>
              </a:rPr>
              <a:t>Pro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75378" y="2011680"/>
            <a:ext cx="324093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Calibri"/>
              </a:rPr>
              <a:t>£49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75378" y="2514600"/>
            <a:ext cx="324093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/seat/mo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71800"/>
            <a:ext cx="3149498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• Everything in Core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• Premium reasoning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• Deep research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• Advanced reporting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• Priority support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1371600"/>
            <a:ext cx="3515258" cy="4389120"/>
          </a:xfrm>
          <a:prstGeom prst="roundRect">
            <a:avLst/>
          </a:prstGeom>
          <a:solidFill>
            <a:srgbClr val="F6F2ED"/>
          </a:solidFill>
          <a:ln w="25400">
            <a:solidFill>
              <a:srgbClr val="B14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4956" y="1508760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B14E2E"/>
                </a:solidFill>
                <a:latin typeface="Georgia"/>
              </a:rPr>
              <a:t>Managed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2011680"/>
            <a:ext cx="324093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B14E2E"/>
                </a:solidFill>
                <a:latin typeface="Calibri"/>
              </a:rPr>
              <a:t>£799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514600"/>
            <a:ext cx="324093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D2A26"/>
                </a:solidFill>
                <a:latin typeface="Calibri"/>
              </a:rPr>
              <a:t>/mo + £1,500 onboarding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0676" y="2971800"/>
            <a:ext cx="3149498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defRPr sz="1400">
                <a:solidFill>
                  <a:srgbClr val="2D2A26"/>
                </a:solidFill>
                <a:latin typeface="Calibri"/>
              </a:defRPr>
            </a:pPr>
            <a:r>
              <a:t>• Includes 10 Pro seats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1400">
                <a:solidFill>
                  <a:srgbClr val="2D2A26"/>
                </a:solidFill>
                <a:latin typeface="Calibri"/>
              </a:defRPr>
            </a:pPr>
            <a:r>
              <a:t>• White-glove onboarding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1400">
                <a:solidFill>
                  <a:srgbClr val="2D2A26"/>
                </a:solidFill>
                <a:latin typeface="Calibri"/>
              </a:defRPr>
            </a:pPr>
            <a:r>
              <a:t>• Custom workflows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1400">
                <a:solidFill>
                  <a:srgbClr val="2D2A26"/>
                </a:solidFill>
                <a:latin typeface="Calibri"/>
              </a:defRPr>
            </a:pPr>
            <a:r>
              <a:t>• Quarterly reviews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1400">
                <a:solidFill>
                  <a:srgbClr val="2D2A26"/>
                </a:solidFill>
                <a:latin typeface="Calibri"/>
              </a:defRPr>
            </a:pPr>
            <a:r>
              <a:t>• +£39/extra seat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537960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5752"/>
                </a:solidFill>
                <a:latin typeface="Calibri"/>
              </a:rPr>
              <a:t>flowgridos.co.uk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Georgia"/>
              </a:rPr>
              <a:t>See your workspace before you commit.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libri"/>
              </a:rPr>
              <a:t>Book a 20-minute demo and we’ll build a live workspace around your own documents.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Calibri"/>
              </a:rPr>
              <a:t>hello@flowgridos.co.uk · 14-day trial, no card required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5752"/>
                </a:solidFill>
                <a:latin typeface="Calibri"/>
              </a:rPr>
              <a:t>flowgridos.co.uk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